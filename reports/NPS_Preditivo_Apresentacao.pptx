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93B"/>
                </a:solidFill>
                <a:latin typeface="Arial"/>
              </a:rPr>
              <a:t>Correlação com NPS Score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Correlação com NPS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39C1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39C1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delivery_delay_days</c:v>
                  </c:pt>
                  <c:pt idx="1">
                    <c:v>complaints_count</c:v>
                  </c:pt>
                  <c:pt idx="2">
                    <c:v>customer_service_contacts</c:v>
                  </c:pt>
                  <c:pt idx="3">
                    <c:v>resolution_time_days</c:v>
                  </c:pt>
                  <c:pt idx="4">
                    <c:v>delivery_attempts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-0.6</c:v>
                </c:pt>
                <c:pt idx="1">
                  <c:v>-0.5</c:v>
                </c:pt>
                <c:pt idx="2">
                  <c:v>-0.35</c:v>
                </c:pt>
                <c:pt idx="3">
                  <c:v>-0.28</c:v>
                </c:pt>
                <c:pt idx="4">
                  <c:v>-0.18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93B"/>
                </a:solidFill>
                <a:latin typeface="Arial"/>
              </a:rPr>
              <a:t>NPS Médio por Dia de Atraso na Entrega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NPS Médio</c:v>
                </c:pt>
              </c:strCache>
            </c:strRef>
          </c:tx>
          <c:spPr>
            <a:solidFill>
              <a:srgbClr val="E74C3C"/>
            </a:solidFill>
            <a:ln w="38100" cap="flat">
              <a:solidFill>
                <a:srgbClr val="E74C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74C3C"/>
              </a:solidFill>
              <a:ln w="9525" cap="flat">
                <a:solidFill>
                  <a:srgbClr val="E74C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7.8</c:v>
                </c:pt>
                <c:pt idx="1">
                  <c:v>7.2</c:v>
                </c:pt>
                <c:pt idx="2">
                  <c:v>6.8</c:v>
                </c:pt>
                <c:pt idx="3">
                  <c:v>6.3</c:v>
                </c:pt>
                <c:pt idx="4">
                  <c:v>5.9</c:v>
                </c:pt>
                <c:pt idx="5">
                  <c:v>3.6</c:v>
                </c:pt>
                <c:pt idx="6">
                  <c:v>2.9</c:v>
                </c:pt>
                <c:pt idx="7">
                  <c:v>2.3</c:v>
                </c:pt>
                <c:pt idx="8">
                  <c:v>1.8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0"/>
            <a:ext cx="7315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PREDITIVO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74320" y="169164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8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dados operacionais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8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podem prever a satisfação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8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cliente antes da pesquisa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274320" y="41148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— Fase 1 | PosTech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4434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Fase 1 · PosTech · Maio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40480" y="10058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DESAFIO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40480" y="14173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empresa de e-commerce com crescimento acelerado percebeu que clientes com perfis operacionais semelhantes geram NPS completamente diferentes.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40480" y="2468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0" y="27432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 que torna um cliente promotor ou detrator — e como agir antes da pesquisa?"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0116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56032" y="621792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 NPS é estratégico para e-commerce?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1078992"/>
            <a:ext cx="1097280" cy="0"/>
          </a:xfrm>
          <a:prstGeom prst="line">
            <a:avLst/>
          </a:prstGeom>
          <a:noFill/>
          <a:ln w="3175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37160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371600"/>
            <a:ext cx="2743200" cy="7315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5087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47472" y="2194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RECOMPRA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0624" y="2560320"/>
            <a:ext cx="241401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Promotores compram com mais frequência e maior ticket médio. Fidelizar 5% dos clientes pode aumentar o lucro em até 95%.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82112" y="137160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82112" y="1371600"/>
            <a:ext cx="27432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73552" y="15087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⟳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273552" y="2194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BOCA A BOCA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46704" y="2560320"/>
            <a:ext cx="241401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Promotor traz em média 1,4 novos clientes organicamente, reduzindo o CAC sem investimento em mídia.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08192" y="137160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08192" y="1371600"/>
            <a:ext cx="2743200" cy="7315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99632" y="15087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199632" y="2194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SHARE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72784" y="2560320"/>
            <a:ext cx="241401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lealdade cria barreiras de saída naturais, dificultando migração para concorrentes e protegendo receita.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56032" y="475488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complementares monitorados: Churn Rate · CAC · LTV · CSAT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0116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DADOS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56032" y="621792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2.500 clientes | 19 variáveis operacionais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1078992"/>
            <a:ext cx="1097280" cy="0"/>
          </a:xfrm>
          <a:prstGeom prst="line">
            <a:avLst/>
          </a:prstGeom>
          <a:noFill/>
          <a:ln w="3175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325880"/>
            <a:ext cx="1920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325880"/>
            <a:ext cx="192024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463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47472" y="170992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2.500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47472" y="2286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analisados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331720" y="1325880"/>
            <a:ext cx="1920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331720" y="1325880"/>
            <a:ext cx="1920240" cy="6400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1463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423160" y="170992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423160" y="2286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colunas disponíveis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407408" y="1325880"/>
            <a:ext cx="1920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407408" y="1325880"/>
            <a:ext cx="1920240" cy="6400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44568" y="1463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NULOS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498848" y="170992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498848" y="2286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completa e limpa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483096" y="1325880"/>
            <a:ext cx="21945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83096" y="1325880"/>
            <a:ext cx="2194560" cy="640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0256" y="14630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REGIÕES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574536" y="170992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574536" y="2286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nacional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56032" y="292608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COMPOSIÇÃO DO NPS NA BASE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56032" y="3291840"/>
            <a:ext cx="2743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" y="3291840"/>
            <a:ext cx="2743200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34290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~40%</a:t>
            </a:r>
            <a:endParaRPr lang="en-US" sz="3600" dirty="0"/>
          </a:p>
        </p:txBody>
      </p:sp>
      <p:sp>
        <p:nvSpPr>
          <p:cNvPr id="30" name="Text 28"/>
          <p:cNvSpPr/>
          <p:nvPr/>
        </p:nvSpPr>
        <p:spPr>
          <a:xfrm>
            <a:off x="347472" y="4160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Detratores (0–6)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182112" y="3291840"/>
            <a:ext cx="2743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182112" y="3291840"/>
            <a:ext cx="2743200" cy="640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73552" y="34290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~25%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3273552" y="4160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Neutros (7–8)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08192" y="3291840"/>
            <a:ext cx="2743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08192" y="3291840"/>
            <a:ext cx="2743200" cy="6400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99632" y="34290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~35%</a:t>
            </a:r>
            <a:endParaRPr lang="en-US" sz="3600" dirty="0"/>
          </a:p>
        </p:txBody>
      </p:sp>
      <p:sp>
        <p:nvSpPr>
          <p:cNvPr id="38" name="Text 36"/>
          <p:cNvSpPr/>
          <p:nvPr/>
        </p:nvSpPr>
        <p:spPr>
          <a:xfrm>
            <a:off x="6199632" y="4160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Promotores (9–10)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56032" y="480060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2 variáveis excluídas do modelo por risco de data leakage: csat_internal_score e repeat_purchase_30d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0116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EXPLORATÓRIA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56032" y="621792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os dados nos dizem sobre a satisfação?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1078992"/>
            <a:ext cx="1097280" cy="0"/>
          </a:xfrm>
          <a:prstGeom prst="line">
            <a:avLst/>
          </a:prstGeom>
          <a:noFill/>
          <a:ln w="31750">
            <a:solidFill>
              <a:srgbClr val="00B4D8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256032" y="1280160"/>
          <a:ext cx="47548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303520" y="1280160"/>
            <a:ext cx="35661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303520" y="1280160"/>
            <a:ext cx="73152" cy="10515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0" y="13716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−0.60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6492240" y="1371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ATRASO NA ENTREGA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492240" y="16642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fator de insatisfação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303520" y="2487168"/>
            <a:ext cx="35661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303520" y="2487168"/>
            <a:ext cx="73152" cy="10515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0" y="257860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−0.50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6492240" y="25786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RECLAMAÇÕES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492240" y="28712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reclamação derruba o NPS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303520" y="3694176"/>
            <a:ext cx="35661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303520" y="3694176"/>
            <a:ext cx="73152" cy="10515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86400" y="3785616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−0.35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6492240" y="37856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CONTATOS COM SUPORTE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492240" y="407822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Múltiplas tentativas frustram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0116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DE RUPTURA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56032" y="621792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cliente perde a paciência com o atraso?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1078992"/>
            <a:ext cx="1097280" cy="0"/>
          </a:xfrm>
          <a:prstGeom prst="line">
            <a:avLst/>
          </a:prstGeom>
          <a:noFill/>
          <a:ln w="31750">
            <a:solidFill>
              <a:srgbClr val="00B4D8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256032" y="1280160"/>
          <a:ext cx="54864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989320" y="1280160"/>
            <a:ext cx="2880360" cy="1828800"/>
          </a:xfrm>
          <a:prstGeom prst="rect">
            <a:avLst/>
          </a:prstGeom>
          <a:solidFill>
            <a:srgbClr val="FEF2F2"/>
          </a:solidFill>
          <a:ln w="1905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080760" y="137160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PONTO DE RUPTURA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080760" y="1691640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5º dia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6080760" y="237744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de ~39% no NPS médio entre o 4º e o 5º dia de atraso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989320" y="3291840"/>
            <a:ext cx="2880360" cy="1463040"/>
          </a:xfrm>
          <a:prstGeom prst="rect">
            <a:avLst/>
          </a:prstGeom>
          <a:solidFill>
            <a:srgbClr val="F0FDF4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80760" y="33832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RECOMENDAÇÃO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080760" y="370332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Acionar alerta proativo de atendimento no 4º dia de atraso — antes do ponto crítico.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0116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DOS CLIENTES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56032" y="621792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são os Promotores e os Detratores?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1078992"/>
            <a:ext cx="1097280" cy="0"/>
          </a:xfrm>
          <a:prstGeom prst="line">
            <a:avLst/>
          </a:prstGeom>
          <a:noFill/>
          <a:ln w="31750">
            <a:solidFill>
              <a:srgbClr val="00B4D8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1325880"/>
          <a:ext cx="8595360" cy="3108960"/>
        </p:xfrm>
        <a:graphic>
          <a:graphicData uri="http://schemas.openxmlformats.org/drawingml/2006/table">
            <a:tbl>
              <a:tblPr/>
              <a:tblGrid>
                <a:gridCol w="3200400"/>
                <a:gridCol w="2743200"/>
                <a:gridCol w="27432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Característica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😡  Detratores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😊  Promotores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CC7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Atraso na entrega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 (≥ 5 dias)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Baixo ou nulo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Reclamações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Muitas (média 6+)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Poucas (0–2)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Contatos com suporte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Múltiplos (reincidência)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Resolução no 1º contato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Recompra em 30 dias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 frequência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56032" y="457200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Conclusão: a principal diferença não está no perfil demográfico do cliente — está na qualidade da operação logística e de atendimento.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0116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COM IA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56032" y="621792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prever o NPS antes da pesquisa?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1078992"/>
            <a:ext cx="1097280" cy="0"/>
          </a:xfrm>
          <a:prstGeom prst="line">
            <a:avLst/>
          </a:prstGeom>
          <a:noFill/>
          <a:ln w="3175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12344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ABORDAGEM ESCOLHIDA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56032" y="150876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Multiclasse: Detrator · Neutro · Promotor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82880" y="2103120"/>
            <a:ext cx="1572768" cy="13716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82880" y="2176272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operacionais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82880" y="2834640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pedido, logística,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atendimento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755648" y="2743200"/>
            <a:ext cx="21945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75104" y="2103120"/>
            <a:ext cx="1572768" cy="13716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975104" y="2176272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Remoção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leakage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975104" y="2834640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csat, recompra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excluídos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547872" y="2743200"/>
            <a:ext cx="21945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67328" y="2103120"/>
            <a:ext cx="1572768" cy="13716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767328" y="2176272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767328" y="2834640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discount_ratio,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has_delay...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340096" y="2743200"/>
            <a:ext cx="21945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59552" y="2103120"/>
            <a:ext cx="1572768" cy="13716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559552" y="2176272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XGBoost/RF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559552" y="2834640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multiclasse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132320" y="2743200"/>
            <a:ext cx="21945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51776" y="2103120"/>
            <a:ext cx="1572768" cy="13716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351776" y="2176272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proativo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351776" y="2834640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 antes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pesquisa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56032" y="3703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ESPERADOS DO MODELO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56032" y="4069080"/>
            <a:ext cx="28346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1605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Macro: ~0.78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5760" y="44805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equilibrada entre classes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27832" y="4069080"/>
            <a:ext cx="28346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37560" y="41605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Escolhido: XGBoost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337560" y="44805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desempenho em dados tabulares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199632" y="4069080"/>
            <a:ext cx="28346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0" y="41605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Validação: 5-Fold CV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309360" y="44805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robustos e generalizáveis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0116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RECOMENDAÇÕES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56032" y="621792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Ações práticas para melhorar a experiência do cliente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1078992"/>
            <a:ext cx="1097280" cy="0"/>
          </a:xfrm>
          <a:prstGeom prst="line">
            <a:avLst/>
          </a:prstGeom>
          <a:noFill/>
          <a:ln w="3175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1325880"/>
            <a:ext cx="28346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1325880"/>
            <a:ext cx="2834640" cy="7315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4630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🚚 LOGÍSTICA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10896" y="1874520"/>
            <a:ext cx="2615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Monitorar pedidos com risco de atraso a partir do 3º dia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10896" y="2624328"/>
            <a:ext cx="2615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Acionar equipe de CX proativamente no 4º dia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10896" y="3374136"/>
            <a:ext cx="2615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SLAs com transportadoras em regiões críticas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0" y="1325880"/>
            <a:ext cx="28346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325880"/>
            <a:ext cx="2834640" cy="7315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4630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ATENDIMENTO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10128" y="1874520"/>
            <a:ext cx="2615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Capacitar para resolução no 1º contato (FCR)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10128" y="2624328"/>
            <a:ext cx="2615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fluxos específicos para clientes com múltiplas reclamações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10128" y="3374136"/>
            <a:ext cx="2615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Monitorar tempo de resolução por categoria de problema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99632" y="1325880"/>
            <a:ext cx="28346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99632" y="1325880"/>
            <a:ext cx="2834640" cy="7315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4630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PRODUTO / UX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09360" y="1874520"/>
            <a:ext cx="2615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Aprimorar rastreamento de pedidos em tempo real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309360" y="2624328"/>
            <a:ext cx="2615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 comunicação proativa sobre status da entrega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309360" y="3374136"/>
            <a:ext cx="2615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pesquisa de satisfação incremental na jornada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0116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 E RISCOS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56032" y="621792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empresa deve considerar ao usar esses resultados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1078992"/>
            <a:ext cx="1097280" cy="0"/>
          </a:xfrm>
          <a:prstGeom prst="line">
            <a:avLst/>
          </a:prstGeom>
          <a:noFill/>
          <a:ln w="3175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325880"/>
            <a:ext cx="4251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325880"/>
            <a:ext cx="4251960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64992" y="1463040"/>
            <a:ext cx="1005840" cy="2560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64992" y="14630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93192" y="14630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Leakage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93192" y="1801368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coletadas após o NPS (csat, recompra) foram excluídas. Incluí-las geraria performance artificial — o modelo falharia em produção.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90872" y="1325880"/>
            <a:ext cx="4251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90872" y="1325880"/>
            <a:ext cx="4251960" cy="640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99832" y="1463040"/>
            <a:ext cx="1005840" cy="25603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99832" y="14630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828032" y="14630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Temporal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28032" y="1801368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comportamento do cliente muda com o tempo (sazonalidade, crises, novas concorrências). O modelo deve ser re-treinado periodicamente.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56032" y="3154680"/>
            <a:ext cx="4251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6032" y="3154680"/>
            <a:ext cx="4251960" cy="640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64992" y="3291840"/>
            <a:ext cx="1005840" cy="25603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64992" y="32918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93192" y="32918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Causalidade ≠ Correlação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93192" y="3630168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Atraso de entrega correlaciona com NPS baixo, mas reduzir o atraso não garante aumento proporcional do NPS — outros fatores atuam juntos.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90872" y="3154680"/>
            <a:ext cx="4251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90872" y="3154680"/>
            <a:ext cx="4251960" cy="6400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99832" y="3291840"/>
            <a:ext cx="1005840" cy="25603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99832" y="32918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BAIXO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828032" y="32918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Tamanho da Base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828032" y="3630168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2.500 registros são suficientes para análise, mas podem limitar a generalização do modelo. Ampliar a base antes de produção é recomendável.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Satisfação do cliente não é acidente.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14400" y="16459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F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resultado de decisões operacionais mensuráveis — e, portanto, antecipáveis.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24688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</a:t>
            </a:r>
            <a:pPr indent="0" marL="0">
              <a:buNone/>
            </a:pPr>
            <a:r>
              <a:rPr lang="en-US" sz="1300" dirty="0">
                <a:solidFill>
                  <a:srgbClr val="C8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atraso na entrega é o fator com maior impacto no NPS — o 5º dia é o limite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30632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pPr indent="0" marL="0">
              <a:buNone/>
            </a:pPr>
            <a:r>
              <a:rPr lang="en-US" sz="1300" dirty="0">
                <a:solidFill>
                  <a:srgbClr val="C8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Reclamações e múltiplos contatos com suporte são sinais claros de risco de Detrator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36576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pPr indent="0" marL="0">
              <a:buNone/>
            </a:pPr>
            <a:r>
              <a:rPr lang="en-US" sz="1300" dirty="0">
                <a:solidFill>
                  <a:srgbClr val="C8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modelo preditivo permite agir proativamente — antes da pesquisa, durante a entrega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Fase 1 · PosTech ·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NPS Preditivo — Tech Challenge Fase 1</dc:title>
  <dc:subject>PptxGenJS Presentation</dc:subject>
  <dc:creator/>
  <cp:lastModifiedBy/>
  <cp:revision>1</cp:revision>
  <dcterms:created xsi:type="dcterms:W3CDTF">2026-06-09T23:55:40Z</dcterms:created>
  <dcterms:modified xsi:type="dcterms:W3CDTF">2026-06-09T23:55:40Z</dcterms:modified>
</cp:coreProperties>
</file>